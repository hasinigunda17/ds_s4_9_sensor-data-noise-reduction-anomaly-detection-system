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258" r:id="rId8"/>
    <p:sldId id="259" r:id="rId9"/>
    <p:sldId id="260" r:id="rId10"/>
    <p:sldId id="906" r:id="rId11"/>
    <p:sldId id="90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5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1"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t>
        <a:bodyPr/>
        <a:lstStyle/>
        <a:p>
          <a:endParaRPr lang="en-IN"/>
        </a:p>
      </dgm:t>
    </dgm:pt>
  </dgm:ptLst>
  <dgm:cxnLst>
    <dgm:cxn modelId="{536B444D-E965-4C7A-901B-8D59695FE972}" type="presOf" srcId="{84B03022-1F30-4885-B78F-22C04F8A973E}" destId="{4094C340-BA43-4FE7-BEDC-37D235AAAD16}" srcOrd="0" destOrd="0" presId="urn:microsoft.com/office/officeart/2005/8/layout/venn3#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1">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163466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104802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882939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27863A-4956-4659-9192-3D74DA4F7578}"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27863A-4956-4659-9192-3D74DA4F7578}"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7863A-4956-4659-9192-3D74DA4F7578}"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26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26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26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26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sv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p:cNvGraphicFramePr>
            <a:graphicFrameLocks noGrp="1"/>
          </p:cNvGraphicFramePr>
          <p:nvPr/>
        </p:nvGraphicFramePr>
        <p:xfrm>
          <a:off x="8193271" y="4898509"/>
          <a:ext cx="3702050" cy="975360"/>
        </p:xfrm>
        <a:graphic>
          <a:graphicData uri="http://schemas.openxmlformats.org/drawingml/2006/table">
            <a:tbl>
              <a:tblPr firstRow="1" bandRow="1">
                <a:tableStyleId>{5940675A-B579-460E-94D1-54222C63F5DA}</a:tableStyleId>
              </a:tblPr>
              <a:tblGrid>
                <a:gridCol w="3702050"/>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panose="02040503050406030204"/>
                          <a:cs typeface="Times New Roman" panose="02020603050405020304" pitchFamily="18" charset="0"/>
                        </a:rPr>
                        <a:t>2420030657 -K.Akshitha</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kern="1200" dirty="0">
                          <a:solidFill>
                            <a:schemeClr val="dk1"/>
                          </a:solidFill>
                          <a:latin typeface="Times New Roman" panose="02020603050405020304" pitchFamily="18" charset="0"/>
                          <a:ea typeface="Cambria" panose="02040503050406030204"/>
                          <a:cs typeface="Times New Roman" panose="02020603050405020304" pitchFamily="18" charset="0"/>
                        </a:rPr>
                        <a:t>2420030703-G.Hemalatha</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kern="1200" dirty="0">
                          <a:solidFill>
                            <a:schemeClr val="dk1"/>
                          </a:solidFill>
                          <a:latin typeface="Times New Roman" panose="02020603050405020304" pitchFamily="18" charset="0"/>
                          <a:ea typeface="Cambria" panose="02040503050406030204"/>
                          <a:cs typeface="Times New Roman" panose="02020603050405020304" pitchFamily="18" charset="0"/>
                        </a:rPr>
                        <a:t>2420030735-G.V.S Hasini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bl>
          </a:graphicData>
        </a:graphic>
      </p:graphicFrame>
      <p:grpSp>
        <p:nvGrpSpPr>
          <p:cNvPr id="21" name="Group 20"/>
          <p:cNvGrpSpPr/>
          <p:nvPr/>
        </p:nvGrpSpPr>
        <p:grpSpPr>
          <a:xfrm>
            <a:off x="8038280" y="4765558"/>
            <a:ext cx="230240" cy="232995"/>
            <a:chOff x="1567861" y="1613059"/>
            <a:chExt cx="230240" cy="232995"/>
          </a:xfrm>
          <a:solidFill>
            <a:srgbClr val="FF66FF"/>
          </a:solidFill>
        </p:grpSpPr>
        <p:sp>
          <p:nvSpPr>
            <p:cNvPr id="22" name="Isosceles Triangle 21"/>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p:cNvGraphicFramePr>
            <a:graphicFrameLocks noGrp="1"/>
          </p:cNvGraphicFramePr>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gridCol w="4528760"/>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IN" altLang="en-US" sz="1400" b="1"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Ms.B.Prathusha</a:t>
                      </a:r>
                      <a:endParaRPr lang="en-US" sz="1400" b="1"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endParaRPr>
                    </a:p>
                    <a:p>
                      <a:pPr marL="0" indent="0" algn="l">
                        <a:lnSpc>
                          <a:spcPct val="100000"/>
                        </a:lnSpc>
                        <a:spcBef>
                          <a:spcPts val="200"/>
                        </a:spcBef>
                        <a:buSzPts val="810"/>
                        <a:buNone/>
                      </a:pPr>
                      <a:r>
                        <a:rPr lang="en-IN" alt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Assistant </a:t>
                      </a:r>
                      <a:r>
                        <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Department of </a:t>
                      </a:r>
                      <a:r>
                        <a:rPr lang="en-US" sz="1400" b="1" dirty="0">
                          <a:solidFill>
                            <a:prstClr val="black"/>
                          </a:solidFill>
                          <a:latin typeface="Times New Roman" panose="02020603050405020304" pitchFamily="18" charset="0"/>
                          <a:ea typeface="Cambria" panose="02040503050406030204"/>
                          <a:cs typeface="Times New Roman" panose="02020603050405020304" pitchFamily="18" charset="0"/>
                          <a:sym typeface="Cambria" panose="02040503050406030204"/>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KLH CSE Bowrampet Campus</a:t>
                      </a:r>
                      <a:endPar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Arial" panose="020B0604020202020204"/>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grpSp>
        <p:nvGrpSpPr>
          <p:cNvPr id="31" name="Group 30"/>
          <p:cNvGrpSpPr/>
          <p:nvPr/>
        </p:nvGrpSpPr>
        <p:grpSpPr>
          <a:xfrm>
            <a:off x="442519" y="4562547"/>
            <a:ext cx="230240" cy="232995"/>
            <a:chOff x="1567861" y="1613059"/>
            <a:chExt cx="230240" cy="232995"/>
          </a:xfrm>
          <a:solidFill>
            <a:srgbClr val="00B0F0"/>
          </a:solidFill>
        </p:grpSpPr>
        <p:sp>
          <p:nvSpPr>
            <p:cNvPr id="32" name="Isosceles Triangle 31"/>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p:cNvSpPr>
            <a:spLocks noGrp="1"/>
          </p:cNvSpPr>
          <p:nvPr>
            <p:ph type="dt" sz="half" idx="10"/>
          </p:nvPr>
        </p:nvSpPr>
        <p:spPr/>
        <p:txBody>
          <a:bodyPr/>
          <a:lstStyle/>
          <a:p>
            <a:r>
              <a:rPr lang="en-US" b="1" dirty="0"/>
              <a:t>Date</a:t>
            </a:r>
            <a:endParaRPr lang="en-IN" b="1" dirty="0"/>
          </a:p>
        </p:txBody>
      </p:sp>
      <p:sp>
        <p:nvSpPr>
          <p:cNvPr id="35" name="Footer Placeholder 34"/>
          <p:cNvSpPr>
            <a:spLocks noGrp="1"/>
          </p:cNvSpPr>
          <p:nvPr>
            <p:ph type="ftr" sz="quarter" idx="11"/>
          </p:nvPr>
        </p:nvSpPr>
        <p:spPr/>
        <p:txBody>
          <a:bodyPr/>
          <a:lstStyle/>
          <a:p>
            <a:r>
              <a:rPr lang="en-IN" b="1" dirty="0" smtClean="0"/>
              <a:t>Data Science </a:t>
            </a:r>
            <a:r>
              <a:rPr lang="en-IN" b="1" dirty="0"/>
              <a:t>Project </a:t>
            </a:r>
            <a:r>
              <a:rPr lang="en-IN" b="1" dirty="0" smtClean="0"/>
              <a:t>Review-2</a:t>
            </a:r>
            <a:endParaRPr lang="en-IN" b="1" dirty="0"/>
          </a:p>
        </p:txBody>
      </p:sp>
      <p:sp>
        <p:nvSpPr>
          <p:cNvPr id="36" name="Slide Number Placeholder 35"/>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p:cNvSpPr/>
          <p:nvPr/>
        </p:nvSpPr>
        <p:spPr>
          <a:xfrm>
            <a:off x="638174" y="747233"/>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10249380" y="0"/>
            <a:ext cx="1942620" cy="622550"/>
          </a:xfrm>
          <a:prstGeom prst="rect">
            <a:avLst/>
          </a:prstGeom>
        </p:spPr>
      </p:pic>
      <p:sp>
        <p:nvSpPr>
          <p:cNvPr id="14" name="TextBox 13"/>
          <p:cNvSpPr txBox="1"/>
          <p:nvPr/>
        </p:nvSpPr>
        <p:spPr>
          <a:xfrm>
            <a:off x="738187" y="810857"/>
            <a:ext cx="10715625" cy="1446550"/>
          </a:xfrm>
          <a:prstGeom prst="rect">
            <a:avLst/>
          </a:prstGeom>
          <a:noFill/>
        </p:spPr>
        <p:txBody>
          <a:bodyPr wrap="square">
            <a:spAutoFit/>
          </a:bodyPr>
          <a:lstStyle/>
          <a:p>
            <a:pPr lvl="0" algn="ctr">
              <a:defRPr/>
            </a:pPr>
            <a:r>
              <a:rPr lang="en-IN" sz="2400" b="1" dirty="0">
                <a:solidFill>
                  <a:schemeClr val="bg1"/>
                </a:solidFill>
                <a:latin typeface="Times New Roman" panose="02020603050405020304" pitchFamily="18" charset="0"/>
                <a:cs typeface="Times New Roman" panose="02020603050405020304" pitchFamily="18" charset="0"/>
              </a:rPr>
              <a:t>Project </a:t>
            </a:r>
            <a:r>
              <a:rPr lang="en-IN" sz="2400" b="1" dirty="0" smtClean="0">
                <a:solidFill>
                  <a:schemeClr val="bg1"/>
                </a:solidFill>
                <a:latin typeface="Times New Roman" panose="02020603050405020304" pitchFamily="18" charset="0"/>
                <a:cs typeface="Times New Roman" panose="02020603050405020304" pitchFamily="18" charset="0"/>
              </a:rPr>
              <a:t>Title</a:t>
            </a:r>
          </a:p>
          <a:p>
            <a:pPr lvl="0" algn="ctr">
              <a:defRPr/>
            </a:pPr>
            <a:r>
              <a:rPr lang="en-GB" sz="2800" b="1" dirty="0">
                <a:solidFill>
                  <a:schemeClr val="bg1"/>
                </a:solidFill>
                <a:latin typeface="Times New Roman" panose="02020603050405020304" pitchFamily="18" charset="0"/>
                <a:cs typeface="Times New Roman" panose="02020603050405020304" pitchFamily="18" charset="0"/>
              </a:rPr>
              <a:t>Sensor Data Noise Reduction &amp; Anomaly Detection System</a:t>
            </a:r>
            <a:r>
              <a:rPr lang="en-GB" sz="2800" dirty="0">
                <a:solidFill>
                  <a:schemeClr val="bg1"/>
                </a:solidFill>
                <a:latin typeface="Calibri" panose="020F0502020204030204"/>
                <a:cs typeface="Poppins" pitchFamily="2" charset="77"/>
              </a:rPr>
              <a:t> </a:t>
            </a:r>
            <a:r>
              <a:rPr lang="en-GB" sz="3600" dirty="0">
                <a:solidFill>
                  <a:schemeClr val="bg1"/>
                </a:solidFill>
                <a:latin typeface="Calibri" panose="020F0502020204030204"/>
                <a:cs typeface="Poppins" pitchFamily="2" charset="77"/>
              </a:rPr>
              <a:t>PROBLEM SYSTEM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(24AD3107) Project </a:t>
            </a:r>
            <a:r>
              <a:rPr lang="en-IN" sz="3200" b="1" dirty="0" smtClean="0">
                <a:latin typeface="Times New Roman" panose="02020603050405020304" pitchFamily="18" charset="0"/>
                <a:cs typeface="Times New Roman" panose="02020603050405020304" pitchFamily="18" charset="0"/>
              </a:rPr>
              <a:t>Review-2</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panose="02040503050406030204"/>
                <a:cs typeface="Times New Roman" panose="02020603050405020304" pitchFamily="18" charset="0"/>
              </a:rPr>
              <a:t>Outline of Project Work</a:t>
            </a:r>
          </a:p>
        </p:txBody>
      </p:sp>
      <p:grpSp>
        <p:nvGrpSpPr>
          <p:cNvPr id="8" name="Group 7"/>
          <p:cNvGrpSpPr/>
          <p:nvPr/>
        </p:nvGrpSpPr>
        <p:grpSpPr>
          <a:xfrm>
            <a:off x="2001361" y="1377996"/>
            <a:ext cx="6784432" cy="4438977"/>
            <a:chOff x="1929643" y="1656655"/>
            <a:chExt cx="6784432" cy="4438977"/>
          </a:xfrm>
        </p:grpSpPr>
        <p:sp>
          <p:nvSpPr>
            <p:cNvPr id="16" name="TextBox 15"/>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530"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Challenges</a:t>
              </a:r>
            </a:p>
            <a:p>
              <a:pPr marL="430530"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8" name="TextBox 17"/>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530"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Research Objectives</a:t>
              </a:r>
            </a:p>
            <a:p>
              <a:pPr marL="430530"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0" name="TextBox 19"/>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530" marR="0" lvl="0" indent="-342900" algn="l" defTabSz="4572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Conclusion &amp; Future Work</a:t>
              </a:r>
            </a:p>
            <a:p>
              <a:pPr marL="430530" marR="0" lvl="0" indent="-342900" algn="l" defTabSz="4572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2" name="TextBox 21"/>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530" marR="0" lvl="0" indent="-342900" algn="l" defTabSz="4572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References</a:t>
              </a: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
              </a:r>
              <a:b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br>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4" name="TextBox 23"/>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530" marR="0" lvl="0" indent="-342900" algn="l" defTabSz="4572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Publications Details</a:t>
              </a:r>
            </a:p>
            <a:p>
              <a:pPr marL="430530" marR="0" lvl="0" indent="-342900" algn="l" defTabSz="4572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7" name="Graphic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8229530" y="5002476"/>
              <a:ext cx="455841" cy="536286"/>
            </a:xfrm>
            <a:prstGeom prst="rect">
              <a:avLst/>
            </a:prstGeom>
          </p:spPr>
        </p:pic>
        <p:sp>
          <p:nvSpPr>
            <p:cNvPr id="28" name="Content Placeholder 11"/>
            <p:cNvSpPr txBox="1"/>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Focus</a:t>
              </a: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28600" marR="0" lvl="0" indent="-228600" algn="l" defTabSz="914400" rtl="0" eaLnBrk="1" fontAlgn="auto" latinLnBrk="0" hangingPunct="1">
                <a:lnSpc>
                  <a:spcPct val="130000"/>
                </a:lnSpc>
                <a:spcBef>
                  <a:spcPts val="505"/>
                </a:spcBef>
                <a:spcAft>
                  <a:spcPts val="0"/>
                </a:spcAft>
                <a:buClrTx/>
                <a:buSzPts val="2520"/>
                <a:buFont typeface="Arial" panose="020B0604020202020204" pitchFamily="34" charset="0"/>
                <a:buChar char="•"/>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28600" marR="0" lvl="0" indent="-228600" algn="l" defTabSz="914400" rtl="0" eaLnBrk="1" fontAlgn="auto" latinLnBrk="0" hangingPunct="1">
                <a:lnSpc>
                  <a:spcPct val="130000"/>
                </a:lnSpc>
                <a:spcBef>
                  <a:spcPts val="505"/>
                </a:spcBef>
                <a:spcAft>
                  <a:spcPts val="0"/>
                </a:spcAft>
                <a:buClrTx/>
                <a:buSzPts val="2520"/>
                <a:buFont typeface="Arial" panose="020B0604020202020204" pitchFamily="34" charset="0"/>
                <a:buChar char="•"/>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p:cNvSpPr txBox="1"/>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Introduction</a:t>
              </a: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430530" marR="0" lvl="0" indent="-342900" algn="l" defTabSz="914400" rtl="0" eaLnBrk="1" fontAlgn="auto" latinLnBrk="0" hangingPunct="1">
                <a:lnSpc>
                  <a:spcPct val="150000"/>
                </a:lnSpc>
                <a:spcBef>
                  <a:spcPts val="505"/>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28600" marR="0" lvl="0" indent="-228600" algn="l" defTabSz="914400" rtl="0" eaLnBrk="1" fontAlgn="auto" latinLnBrk="0" hangingPunct="1">
                <a:lnSpc>
                  <a:spcPct val="130000"/>
                </a:lnSpc>
                <a:spcBef>
                  <a:spcPts val="505"/>
                </a:spcBef>
                <a:spcAft>
                  <a:spcPts val="0"/>
                </a:spcAft>
                <a:buClrTx/>
                <a:buSzPts val="2520"/>
                <a:buFont typeface="Arial" panose="020B0604020202020204" pitchFamily="34" charset="0"/>
                <a:buChar char="•"/>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28600" marR="0" lvl="0" indent="-228600" algn="l" defTabSz="914400" rtl="0" eaLnBrk="1" fontAlgn="auto" latinLnBrk="0" hangingPunct="1">
                <a:lnSpc>
                  <a:spcPct val="130000"/>
                </a:lnSpc>
                <a:spcBef>
                  <a:spcPts val="505"/>
                </a:spcBef>
                <a:spcAft>
                  <a:spcPts val="0"/>
                </a:spcAft>
                <a:buClrTx/>
                <a:buSzPts val="2520"/>
                <a:buFont typeface="Arial" panose="020B0604020202020204" pitchFamily="34" charset="0"/>
                <a:buChar char="•"/>
                <a:defRPr/>
              </a:pPr>
              <a:endPar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7683523" y="4358877"/>
              <a:ext cx="455841" cy="536286"/>
            </a:xfrm>
            <a:prstGeom prst="rect">
              <a:avLst/>
            </a:prstGeom>
          </p:spPr>
        </p:pic>
        <p:pic>
          <p:nvPicPr>
            <p:cNvPr id="37" name="Graphic 3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7229942" y="3813495"/>
              <a:ext cx="455841" cy="536286"/>
            </a:xfrm>
            <a:prstGeom prst="rect">
              <a:avLst/>
            </a:prstGeom>
          </p:spPr>
        </p:pic>
        <p:pic>
          <p:nvPicPr>
            <p:cNvPr id="38" name="Graphic 37"/>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6863353" y="3200501"/>
              <a:ext cx="455841" cy="536286"/>
            </a:xfrm>
            <a:prstGeom prst="rect">
              <a:avLst/>
            </a:prstGeom>
          </p:spPr>
        </p:pic>
        <p:pic>
          <p:nvPicPr>
            <p:cNvPr id="39" name="Graphic 3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6443196" y="2766955"/>
              <a:ext cx="455841" cy="536286"/>
            </a:xfrm>
            <a:prstGeom prst="rect">
              <a:avLst/>
            </a:prstGeom>
          </p:spPr>
        </p:pic>
        <p:pic>
          <p:nvPicPr>
            <p:cNvPr id="40" name="Graphic 39"/>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6040392" y="2252522"/>
              <a:ext cx="455841" cy="536286"/>
            </a:xfrm>
            <a:prstGeom prst="rect">
              <a:avLst/>
            </a:prstGeom>
          </p:spPr>
        </p:pic>
        <p:pic>
          <p:nvPicPr>
            <p:cNvPr id="41" name="Graphic 40"/>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1415757" flipH="1">
              <a:off x="5626122" y="1721293"/>
              <a:ext cx="455841" cy="536286"/>
            </a:xfrm>
            <a:prstGeom prst="rect">
              <a:avLst/>
            </a:prstGeom>
          </p:spPr>
        </p:pic>
        <p:sp>
          <p:nvSpPr>
            <p:cNvPr id="14" name="TextBox 13"/>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530"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Literature Survey</a:t>
              </a:r>
              <a:endParaRPr kumimoji="0" lang="en-US" sz="204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graphicFrame>
        <p:nvGraphicFramePr>
          <p:cNvPr id="26" name="Diagram 25"/>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p:cNvPicPr>
            <a:picLocks noChangeAspect="1"/>
          </p:cNvPicPr>
          <p:nvPr/>
        </p:nvPicPr>
        <p:blipFill>
          <a:blip r:embed="rId9"/>
          <a:stretch>
            <a:fillRect/>
          </a:stretch>
        </p:blipFill>
        <p:spPr>
          <a:xfrm>
            <a:off x="10249380" y="0"/>
            <a:ext cx="1901110" cy="62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p:cNvPicPr>
            <a:picLocks noChangeAspect="1"/>
          </p:cNvPicPr>
          <p:nvPr/>
        </p:nvPicPr>
        <p:blipFill>
          <a:blip r:embed="rId2"/>
          <a:stretch>
            <a:fillRect/>
          </a:stretch>
        </p:blipFill>
        <p:spPr>
          <a:xfrm>
            <a:off x="10249380" y="0"/>
            <a:ext cx="1942620" cy="622550"/>
          </a:xfrm>
          <a:prstGeom prst="rect">
            <a:avLst/>
          </a:prstGeom>
        </p:spPr>
      </p:pic>
      <p:sp>
        <p:nvSpPr>
          <p:cNvPr id="4" name="Text Box 3"/>
          <p:cNvSpPr txBox="1"/>
          <p:nvPr/>
        </p:nvSpPr>
        <p:spPr>
          <a:xfrm>
            <a:off x="1123315" y="1490980"/>
            <a:ext cx="10310495" cy="4999355"/>
          </a:xfrm>
          <a:prstGeom prst="rect">
            <a:avLst/>
          </a:prstGeom>
        </p:spPr>
        <p:txBody>
          <a:bodyPr wrap="square">
            <a:noAutofit/>
          </a:bodyPr>
          <a:lstStyle/>
          <a:p>
            <a:r>
              <a:rPr lang="en-GB" sz="2000" dirty="0">
                <a:latin typeface="Times New Roman" panose="02020603050405020304" pitchFamily="18" charset="0"/>
                <a:cs typeface="Times New Roman" panose="02020603050405020304" pitchFamily="18" charset="0"/>
              </a:rPr>
              <a:t>Our project focuses on patient health sensor data. Patient monitoring systems continuously collect readings such as body temperature, heart rate, blood pressure and oxygen level.</a:t>
            </a:r>
          </a:p>
          <a:p>
            <a:r>
              <a:rPr lang="en-GB" sz="2000" dirty="0">
                <a:latin typeface="Times New Roman" panose="02020603050405020304" pitchFamily="18" charset="0"/>
                <a:cs typeface="Times New Roman" panose="02020603050405020304" pitchFamily="18" charset="0"/>
              </a:rPr>
              <a:t>The main problem is that sensor data may contain noise, incorrect readings, missing values or sudden changes. In a normal environment, a small change in temperature may not be very important. But in patient monitoring, even a small incorrect reading can be important because it may give a wrong indication of the patient's health condition.</a:t>
            </a:r>
          </a:p>
          <a:p>
            <a:r>
              <a:rPr lang="en-GB" sz="2000" dirty="0">
                <a:latin typeface="Times New Roman" panose="02020603050405020304" pitchFamily="18" charset="0"/>
                <a:cs typeface="Times New Roman" panose="02020603050405020304" pitchFamily="18" charset="0"/>
              </a:rPr>
              <a:t>For example, if a sensor incorrectly records a patient's temperature or heart rate, it may appear that the patient's condition has changed when actually it is only sensor noise. Therefore, simply collecting the data is not enough. We need to make the data more reliable before </a:t>
            </a:r>
            <a:r>
              <a:rPr lang="en-GB" sz="2000" dirty="0" err="1">
                <a:latin typeface="Times New Roman" panose="02020603050405020304" pitchFamily="18" charset="0"/>
                <a:cs typeface="Times New Roman" panose="02020603050405020304" pitchFamily="18" charset="0"/>
              </a:rPr>
              <a:t>analyzing</a:t>
            </a:r>
            <a:r>
              <a:rPr lang="en-GB" sz="2000" dirty="0">
                <a:latin typeface="Times New Roman" panose="02020603050405020304" pitchFamily="18" charset="0"/>
                <a:cs typeface="Times New Roman" panose="02020603050405020304" pitchFamily="18" charset="0"/>
              </a:rPr>
              <a:t> it.</a:t>
            </a:r>
          </a:p>
          <a:p>
            <a:r>
              <a:rPr lang="en-GB" sz="2000" dirty="0">
                <a:latin typeface="Times New Roman" panose="02020603050405020304" pitchFamily="18" charset="0"/>
                <a:cs typeface="Times New Roman" panose="02020603050405020304" pitchFamily="18" charset="0"/>
              </a:rPr>
              <a:t>Our project addresses this problem by cleaning the patient sensor data, reducing unwanted noise using Moving Average and </a:t>
            </a:r>
            <a:r>
              <a:rPr lang="en-GB" sz="2000" dirty="0" err="1">
                <a:latin typeface="Times New Roman" panose="02020603050405020304" pitchFamily="18" charset="0"/>
                <a:cs typeface="Times New Roman" panose="02020603050405020304" pitchFamily="18" charset="0"/>
              </a:rPr>
              <a:t>Kalman</a:t>
            </a:r>
            <a:r>
              <a:rPr lang="en-GB" sz="2000" dirty="0">
                <a:latin typeface="Times New Roman" panose="02020603050405020304" pitchFamily="18" charset="0"/>
                <a:cs typeface="Times New Roman" panose="02020603050405020304" pitchFamily="18" charset="0"/>
              </a:rPr>
              <a:t> Filtering, and detecting unusual readings using anomaly detection. The cleaned and abnormal readings are then displayed through graphs or a dashboard.</a:t>
            </a:r>
          </a:p>
          <a:p>
            <a:r>
              <a:rPr lang="en-GB" sz="2000" dirty="0">
                <a:latin typeface="Times New Roman" panose="02020603050405020304" pitchFamily="18" charset="0"/>
                <a:cs typeface="Times New Roman" panose="02020603050405020304" pitchFamily="18" charset="0"/>
              </a:rPr>
              <a:t>The main aim is to make patient sensor data more reliable so that unusual changes can be identified more clearly and the data can support better analysis</a:t>
            </a:r>
          </a:p>
          <a:p>
            <a:pPr algn="l"/>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3097" y="290184"/>
            <a:ext cx="6096000" cy="646331"/>
          </a:xfrm>
          <a:prstGeom prst="rect">
            <a:avLst/>
          </a:prstGeom>
          <a:noFill/>
        </p:spPr>
        <p:txBody>
          <a:bodyPr wrap="square">
            <a:spAutoFit/>
          </a:bodyPr>
          <a:lstStyle/>
          <a:p>
            <a:pPr algn="ctr"/>
            <a:r>
              <a:rPr lang="en-US" sz="3600" b="1" dirty="0"/>
              <a:t>Objectives</a:t>
            </a:r>
          </a:p>
        </p:txBody>
      </p:sp>
      <p:pic>
        <p:nvPicPr>
          <p:cNvPr id="3" name="Picture 2"/>
          <p:cNvPicPr>
            <a:picLocks noChangeAspect="1"/>
          </p:cNvPicPr>
          <p:nvPr/>
        </p:nvPicPr>
        <p:blipFill>
          <a:blip r:embed="rId2"/>
          <a:stretch>
            <a:fillRect/>
          </a:stretch>
        </p:blipFill>
        <p:spPr>
          <a:xfrm>
            <a:off x="10249380" y="0"/>
            <a:ext cx="1942620" cy="622550"/>
          </a:xfrm>
          <a:prstGeom prst="rect">
            <a:avLst/>
          </a:prstGeom>
        </p:spPr>
      </p:pic>
      <p:sp>
        <p:nvSpPr>
          <p:cNvPr id="2" name="Text Box 1"/>
          <p:cNvSpPr txBox="1"/>
          <p:nvPr/>
        </p:nvSpPr>
        <p:spPr>
          <a:xfrm>
            <a:off x="1106805" y="3852037"/>
            <a:ext cx="10807065" cy="5593080"/>
          </a:xfrm>
          <a:prstGeom prst="rect">
            <a:avLst/>
          </a:prstGeom>
        </p:spPr>
        <p:txBody>
          <a:bodyPr wrap="square">
            <a:noAutofit/>
          </a:bodyPr>
          <a:lstStyle/>
          <a:p>
            <a:pPr marL="342900" indent="-342900">
              <a:buFont typeface="Arial" panose="020B0604020202020204" pitchFamily="34" charset="0"/>
              <a:buChar char="•"/>
            </a:pPr>
            <a:endParaRPr lang="en-GB" sz="20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sz="2000" dirty="0">
              <a:latin typeface="Times New Roman" panose="02020603050405020304" pitchFamily="18" charset="0"/>
              <a:cs typeface="Times New Roman" panose="02020603050405020304" pitchFamily="18" charset="0"/>
            </a:endParaRPr>
          </a:p>
        </p:txBody>
      </p:sp>
      <p:sp>
        <p:nvSpPr>
          <p:cNvPr id="8" name="Rectangle 4"/>
          <p:cNvSpPr>
            <a:spLocks noChangeArrowheads="1"/>
          </p:cNvSpPr>
          <p:nvPr/>
        </p:nvSpPr>
        <p:spPr bwMode="auto">
          <a:xfrm>
            <a:off x="562493" y="1101945"/>
            <a:ext cx="1024851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Collect patient sensor data such as temperature, heart rate, blood pressure and oxygen level. </a:t>
            </a:r>
          </a:p>
          <a:p>
            <a:pPr marL="0" marR="0" lvl="0" indent="0" algn="l" defTabSz="914400" rtl="0" eaLnBrk="0" fontAlgn="base" latinLnBrk="0" hangingPunct="0">
              <a:lnSpc>
                <a:spcPct val="100000"/>
              </a:lnSpc>
              <a:spcBef>
                <a:spcPct val="0"/>
              </a:spcBef>
              <a:spcAft>
                <a:spcPct val="0"/>
              </a:spcAft>
              <a:buClrTx/>
              <a:buSzTx/>
              <a:tabLst/>
            </a:pPr>
            <a:endPar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Remove unwanted noise from patient sensor readings. </a:t>
            </a:r>
          </a:p>
          <a:p>
            <a:pPr marL="0" marR="0" lvl="0" indent="0" algn="l" defTabSz="914400" rtl="0" eaLnBrk="0" fontAlgn="base" latinLnBrk="0" hangingPunct="0">
              <a:lnSpc>
                <a:spcPct val="100000"/>
              </a:lnSpc>
              <a:spcBef>
                <a:spcPct val="0"/>
              </a:spcBef>
              <a:spcAft>
                <a:spcPct val="0"/>
              </a:spcAft>
              <a:buClrTx/>
              <a:buSzTx/>
              <a:tabLst/>
            </a:pPr>
            <a:endPar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Handle missing and incorrect readings in the dataset. </a:t>
            </a:r>
          </a:p>
          <a:p>
            <a:pPr marL="0" marR="0" lvl="0" indent="0" algn="l" defTabSz="914400" rtl="0" eaLnBrk="0" fontAlgn="base" latinLnBrk="0" hangingPunct="0">
              <a:lnSpc>
                <a:spcPct val="100000"/>
              </a:lnSpc>
              <a:spcBef>
                <a:spcPct val="0"/>
              </a:spcBef>
              <a:spcAft>
                <a:spcPct val="0"/>
              </a:spcAft>
              <a:buClrTx/>
              <a:buSzTx/>
              <a:tabLst/>
            </a:pPr>
            <a:endPar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Detect unusual or abnormal patient readings. </a:t>
            </a:r>
          </a:p>
          <a:p>
            <a:pPr marL="0" marR="0" lvl="0" indent="0" algn="l" defTabSz="914400" rtl="0" eaLnBrk="0" fontAlgn="base" latinLnBrk="0" hangingPunct="0">
              <a:lnSpc>
                <a:spcPct val="100000"/>
              </a:lnSpc>
              <a:spcBef>
                <a:spcPct val="0"/>
              </a:spcBef>
              <a:spcAft>
                <a:spcPct val="0"/>
              </a:spcAft>
              <a:buClrTx/>
              <a:buSzTx/>
              <a:tabLst/>
            </a:pPr>
            <a:endPar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Differentiate actual changes from sensor noise as much as possible through filtering and analysis.</a:t>
            </a:r>
          </a:p>
          <a:p>
            <a:pPr marL="0" marR="0" lvl="0" indent="0" algn="l" defTabSz="914400" rtl="0" eaLnBrk="0" fontAlgn="base" latinLnBrk="0" hangingPunct="0">
              <a:lnSpc>
                <a:spcPct val="100000"/>
              </a:lnSpc>
              <a:spcBef>
                <a:spcPct val="0"/>
              </a:spcBef>
              <a:spcAft>
                <a:spcPct val="0"/>
              </a:spcAft>
              <a:buClrTx/>
              <a:buSzTx/>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Compare raw and filtered data to see how data quality improves. </a:t>
            </a:r>
          </a:p>
          <a:p>
            <a:pPr marL="0" marR="0" lvl="0" indent="0" algn="l" defTabSz="914400" rtl="0" eaLnBrk="0" fontAlgn="base" latinLnBrk="0" hangingPunct="0">
              <a:lnSpc>
                <a:spcPct val="100000"/>
              </a:lnSpc>
              <a:spcBef>
                <a:spcPct val="0"/>
              </a:spcBef>
              <a:spcAft>
                <a:spcPct val="0"/>
              </a:spcAft>
              <a:buClrTx/>
              <a:buSzTx/>
              <a:tabLst/>
            </a:pPr>
            <a:endPar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Visualize patient readings and anomalies using graphs/dashboard. </a:t>
            </a:r>
          </a:p>
          <a:p>
            <a:pPr marL="0" marR="0" lvl="0" indent="0" algn="l" defTabSz="914400" rtl="0" eaLnBrk="0" fontAlgn="base" latinLnBrk="0" hangingPunct="0">
              <a:lnSpc>
                <a:spcPct val="100000"/>
              </a:lnSpc>
              <a:spcBef>
                <a:spcPct val="0"/>
              </a:spcBef>
              <a:spcAft>
                <a:spcPct val="0"/>
              </a:spcAft>
              <a:buClrTx/>
              <a:buSzTx/>
              <a:tabLst/>
            </a:pPr>
            <a:endPar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 cleaner and more reliable patient data for analysis</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p:nvPr>
            <p:extLst>
              <p:ext uri="{D42A27DB-BD31-4B8C-83A1-F6EECF244321}">
                <p14:modId xmlns:p14="http://schemas.microsoft.com/office/powerpoint/2010/main" val="1819794017"/>
              </p:ext>
            </p:extLst>
          </p:nvPr>
        </p:nvGraphicFramePr>
        <p:xfrm>
          <a:off x="274645" y="908922"/>
          <a:ext cx="11917355" cy="5956048"/>
        </p:xfrm>
        <a:graphic>
          <a:graphicData uri="http://schemas.openxmlformats.org/drawingml/2006/table">
            <a:tbl>
              <a:tblPr firstRow="1" bandRow="1">
                <a:tableStyleId>{BC89EF96-8CEA-46FF-86C4-4CE0E7609802}</a:tableStyleId>
              </a:tblPr>
              <a:tblGrid>
                <a:gridCol w="1114695"/>
                <a:gridCol w="2328962"/>
                <a:gridCol w="2534520"/>
                <a:gridCol w="3005862"/>
                <a:gridCol w="2933316"/>
              </a:tblGrid>
              <a:tr h="488528">
                <a:tc>
                  <a:txBody>
                    <a:bodyPr/>
                    <a:lstStyle/>
                    <a:p>
                      <a:pPr algn="ctr">
                        <a:buNone/>
                      </a:pPr>
                      <a:r>
                        <a:rPr lang="en-US" dirty="0">
                          <a:latin typeface="Times New Roman" panose="02020603050405020304" pitchFamily="18" charset="0"/>
                          <a:cs typeface="Times New Roman" panose="02020603050405020304"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dirty="0">
                          <a:latin typeface="Times New Roman" panose="02020603050405020304" pitchFamily="18" charset="0"/>
                          <a:cs typeface="Times New Roman" panose="02020603050405020304" pitchFamily="18" charset="0"/>
                        </a:rPr>
                        <a:t>Title of the Paper</a:t>
                      </a:r>
                    </a:p>
                  </a:txBody>
                  <a:tcPr>
                    <a:solidFill>
                      <a:srgbClr val="FFFF00"/>
                    </a:solidFill>
                  </a:tcPr>
                </a:tc>
                <a:tc>
                  <a:txBody>
                    <a:bodyPr/>
                    <a:lstStyle/>
                    <a:p>
                      <a:pPr algn="ctr">
                        <a:buNone/>
                      </a:pPr>
                      <a:r>
                        <a:rPr lang="en-US" dirty="0">
                          <a:latin typeface="Times New Roman" panose="02020603050405020304" pitchFamily="18" charset="0"/>
                          <a:cs typeface="Times New Roman" panose="02020603050405020304" pitchFamily="18" charset="0"/>
                        </a:rPr>
                        <a:t>Methodology</a:t>
                      </a:r>
                    </a:p>
                  </a:txBody>
                  <a:tcPr>
                    <a:solidFill>
                      <a:srgbClr val="FFFF00"/>
                    </a:solidFill>
                  </a:tcPr>
                </a:tc>
                <a:tc>
                  <a:txBody>
                    <a:bodyPr/>
                    <a:lstStyle/>
                    <a:p>
                      <a:pPr algn="ctr">
                        <a:buNone/>
                      </a:pPr>
                      <a:r>
                        <a:rPr lang="en-US" dirty="0">
                          <a:latin typeface="Times New Roman" panose="02020603050405020304" pitchFamily="18" charset="0"/>
                          <a:cs typeface="Times New Roman" panose="02020603050405020304" pitchFamily="18" charset="0"/>
                        </a:rPr>
                        <a:t>Inferences</a:t>
                      </a:r>
                    </a:p>
                  </a:txBody>
                  <a:tcPr>
                    <a:solidFill>
                      <a:srgbClr val="FFFF00"/>
                    </a:solidFill>
                  </a:tcPr>
                </a:tc>
                <a:tc>
                  <a:txBody>
                    <a:bodyPr/>
                    <a:lstStyle/>
                    <a:p>
                      <a:pPr algn="ctr">
                        <a:buNone/>
                      </a:pPr>
                      <a:r>
                        <a:rPr lang="en-US" dirty="0">
                          <a:latin typeface="Times New Roman" panose="02020603050405020304" pitchFamily="18" charset="0"/>
                          <a:cs typeface="Times New Roman" panose="02020603050405020304" pitchFamily="18" charset="0"/>
                        </a:rPr>
                        <a:t>Limitation/Future work</a:t>
                      </a:r>
                    </a:p>
                  </a:txBody>
                  <a:tcPr>
                    <a:solidFill>
                      <a:srgbClr val="FFFF00"/>
                    </a:solidFill>
                  </a:tcPr>
                </a:tc>
              </a:tr>
              <a:tr h="1941858">
                <a:tc>
                  <a:txBody>
                    <a:bodyPr/>
                    <a:lstStyle/>
                    <a:p>
                      <a:r>
                        <a:rPr lang="da-DK" sz="1200" b="1" dirty="0" smtClean="0"/>
                        <a:t>H.Y.Teh et al</a:t>
                      </a:r>
                      <a:r>
                        <a:rPr lang="da-DK" sz="1200" b="1" dirty="0"/>
                        <a:t>. [1]</a:t>
                      </a:r>
                      <a:endParaRPr lang="da-DK" sz="1200" dirty="0"/>
                    </a:p>
                  </a:txBody>
                  <a:tcPr anchor="ctr"/>
                </a:tc>
                <a:tc>
                  <a:txBody>
                    <a:bodyPr/>
                    <a:lstStyle/>
                    <a:p>
                      <a:r>
                        <a:rPr lang="en-GB" sz="1600" dirty="0" smtClean="0"/>
                        <a:t>Sensor Data Quality: A </a:t>
                      </a:r>
                      <a:r>
                        <a:rPr lang="en-GB" sz="1400" dirty="0" smtClean="0"/>
                        <a:t>Systematic Review, Journal of Big Data, 2020</a:t>
                      </a:r>
                      <a:endParaRPr lang="da-DK" sz="1400" dirty="0"/>
                    </a:p>
                  </a:txBody>
                  <a:tcPr anchor="ct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 Studied different types of sensor data errors. </a:t>
                      </a:r>
                      <a:br>
                        <a:rPr lang="en-GB" sz="1400" dirty="0" smtClean="0"/>
                      </a:br>
                      <a:r>
                        <a:rPr lang="en-GB" sz="1400" dirty="0" smtClean="0"/>
                        <a:t>• Reviewed methods for detecting and correcting poor-quality sensor data.</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 Sensor data can contain errors, missing values, noise and outliers. </a:t>
                      </a:r>
                      <a:br>
                        <a:rPr lang="en-GB" sz="1400" dirty="0" smtClean="0"/>
                      </a:br>
                      <a:r>
                        <a:rPr lang="en-GB" sz="1400" dirty="0" smtClean="0"/>
                        <a:t>• Data quality is important for reliable </a:t>
                      </a:r>
                      <a:r>
                        <a:rPr lang="en-GB" sz="1400" dirty="0" err="1" smtClean="0"/>
                        <a:t>IoT</a:t>
                      </a:r>
                      <a:r>
                        <a:rPr lang="en-GB" sz="1400" dirty="0" smtClean="0"/>
                        <a:t> applications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c>
                  <a:txBody>
                    <a:bodyPr/>
                    <a:lstStyle/>
                    <a:p>
                      <a:pPr marL="0" indent="0" algn="l" defTabSz="914400" rtl="0" eaLnBrk="1" latinLnBrk="0" hangingPunct="1">
                        <a:buFont typeface="Arial" panose="020B0604020202020204" pitchFamily="34" charset="0"/>
                        <a:buNone/>
                      </a:pPr>
                      <a:r>
                        <a:rPr lang="en-GB" sz="1400" dirty="0" smtClean="0"/>
                        <a:t>• Sensor data can contain errors, missing values, noise and outliers. </a:t>
                      </a:r>
                      <a:br>
                        <a:rPr lang="en-GB" sz="1400" dirty="0" smtClean="0"/>
                      </a:br>
                      <a:r>
                        <a:rPr lang="en-GB" sz="1400" dirty="0" smtClean="0"/>
                        <a:t>• Data quality is important for reliable </a:t>
                      </a:r>
                      <a:r>
                        <a:rPr lang="en-GB" sz="1400" dirty="0" err="1" smtClean="0"/>
                        <a:t>IoT</a:t>
                      </a:r>
                      <a:r>
                        <a:rPr lang="en-GB" sz="1400" dirty="0" smtClean="0"/>
                        <a:t> applications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r>
              <a:tr h="1727342">
                <a:tc>
                  <a:txBody>
                    <a:bodyPr/>
                    <a:lstStyle/>
                    <a:p>
                      <a:pPr marL="0" algn="l" defTabSz="914400" rtl="0" eaLnBrk="1" latinLnBrk="0" hangingPunct="1"/>
                      <a:endParaRPr lang="en-GB" sz="1200" b="1" dirty="0" smtClean="0"/>
                    </a:p>
                    <a:p>
                      <a:pPr marL="0" algn="l" defTabSz="914400" rtl="0" eaLnBrk="1" latinLnBrk="0" hangingPunct="1"/>
                      <a:r>
                        <a:rPr lang="en-GB" sz="1200" b="1" dirty="0" err="1" smtClean="0"/>
                        <a:t>A.Chatterjee</a:t>
                      </a:r>
                      <a:r>
                        <a:rPr lang="en-GB" sz="1200" b="1" dirty="0" smtClean="0"/>
                        <a:t> and B. S. Ahmed [2]</a:t>
                      </a:r>
                      <a:endParaRPr lang="en-IN" sz="12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GB" sz="1400" dirty="0" smtClean="0"/>
                    </a:p>
                    <a:p>
                      <a:r>
                        <a:rPr lang="en-GB" sz="1400" dirty="0" err="1" smtClean="0"/>
                        <a:t>IoT</a:t>
                      </a:r>
                      <a:r>
                        <a:rPr lang="en-GB" sz="1400" dirty="0" smtClean="0"/>
                        <a:t> Anomaly Detection Methods and Applications: A Survey, 2022</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 Reviewed statistical, machine-learning and other anomaly detection methods. </a:t>
                      </a:r>
                      <a:br>
                        <a:rPr lang="en-GB" sz="1400" dirty="0" smtClean="0"/>
                      </a:br>
                      <a:r>
                        <a:rPr lang="en-GB" sz="1400" dirty="0" smtClean="0"/>
                        <a:t>• Studied anomaly detection in sensor monitoring, smart homes and smart cities</a:t>
                      </a:r>
                      <a:r>
                        <a:rPr lang="en-GB" sz="1400" dirty="0" smtClean="0"/>
                        <a:t>.</a:t>
                      </a:r>
                    </a:p>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Real-time monitoring is mentioned as future work.</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 Anomaly detection is important for identifying unusual </a:t>
                      </a:r>
                      <a:r>
                        <a:rPr lang="en-GB" sz="1400" dirty="0" err="1" smtClean="0"/>
                        <a:t>IoT</a:t>
                      </a:r>
                      <a:r>
                        <a:rPr lang="en-GB" sz="1400" dirty="0" smtClean="0"/>
                        <a:t> sensor </a:t>
                      </a:r>
                      <a:r>
                        <a:rPr lang="en-GB" sz="1400" dirty="0" err="1" smtClean="0"/>
                        <a:t>behavior</a:t>
                      </a:r>
                      <a:r>
                        <a:rPr lang="en-GB" sz="1400" dirty="0" smtClean="0"/>
                        <a:t>. </a:t>
                      </a:r>
                      <a:br>
                        <a:rPr lang="en-GB" sz="1400" dirty="0" smtClean="0"/>
                      </a:br>
                      <a:r>
                        <a:rPr lang="en-GB" sz="1400" dirty="0" smtClean="0"/>
                        <a:t>• Different techniques are suitable for different </a:t>
                      </a:r>
                      <a:r>
                        <a:rPr lang="en-GB" sz="1400" dirty="0" err="1" smtClean="0"/>
                        <a:t>IoT</a:t>
                      </a:r>
                      <a:r>
                        <a:rPr lang="en-GB" sz="1400" dirty="0" smtClean="0"/>
                        <a:t> applications.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c>
                  <a:txBody>
                    <a:bodyPr/>
                    <a:lstStyle/>
                    <a:p>
                      <a:pPr marL="0" indent="0" algn="l" defTabSz="914400" rtl="0" eaLnBrk="1" latinLnBrk="0" hangingPunct="1">
                        <a:buFont typeface="Arial" panose="020B0604020202020204" pitchFamily="34" charset="0"/>
                        <a:buNone/>
                      </a:pPr>
                      <a:r>
                        <a:rPr lang="en-GB" sz="1400" dirty="0" smtClean="0"/>
                        <a:t>• Challenges remain with multiple sensors, changing data patterns and limited ground-truth data. </a:t>
                      </a:r>
                      <a:br>
                        <a:rPr lang="en-GB" sz="1400" dirty="0" smtClean="0"/>
                      </a:br>
                      <a:r>
                        <a:rPr lang="en-GB" sz="1400" dirty="0" smtClean="0"/>
                        <a:t>• More robust real-time methods are needed. </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r>
              <a:tr h="1727342">
                <a:tc>
                  <a:txBody>
                    <a:bodyPr/>
                    <a:lstStyle/>
                    <a:p>
                      <a:pPr marL="0" algn="l" defTabSz="914400" rtl="0" eaLnBrk="1" latinLnBrk="0" hangingPunct="1"/>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14400" rtl="0" eaLnBrk="1" latinLnBrk="0" hangingPunct="1"/>
                      <a:r>
                        <a:rPr lang="da-DK" sz="1200" b="1" dirty="0" smtClean="0"/>
                        <a:t>A. Goknil et al. [3]</a:t>
                      </a:r>
                      <a:endParaRPr lang="en-IN" sz="12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GB" sz="1400" dirty="0" smtClean="0"/>
                    </a:p>
                    <a:p>
                      <a:r>
                        <a:rPr lang="en-GB" sz="1400" dirty="0" smtClean="0"/>
                        <a:t>A Systematic Review of Data Quality in CPS and </a:t>
                      </a:r>
                      <a:r>
                        <a:rPr lang="en-GB" sz="1400" dirty="0" err="1" smtClean="0"/>
                        <a:t>IoT</a:t>
                      </a:r>
                      <a:r>
                        <a:rPr lang="en-GB" sz="1400" dirty="0" smtClean="0"/>
                        <a:t> for Industry 4.0, 2023</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 Reviewed methods for improving data quality in </a:t>
                      </a:r>
                      <a:r>
                        <a:rPr lang="en-GB" sz="1400" dirty="0" err="1" smtClean="0"/>
                        <a:t>IoT</a:t>
                      </a:r>
                      <a:r>
                        <a:rPr lang="en-GB" sz="1400" dirty="0" smtClean="0"/>
                        <a:t> and cyber-physical systems. </a:t>
                      </a:r>
                      <a:br>
                        <a:rPr lang="en-GB" sz="1400" dirty="0" smtClean="0"/>
                      </a:br>
                      <a:r>
                        <a:rPr lang="en-GB" sz="1400" dirty="0" smtClean="0"/>
                        <a:t>• </a:t>
                      </a:r>
                      <a:r>
                        <a:rPr lang="en-GB" sz="1400" dirty="0" smtClean="0"/>
                        <a:t>N</a:t>
                      </a:r>
                      <a:r>
                        <a:rPr lang="en-GB" sz="1400" dirty="0" smtClean="0"/>
                        <a:t>eed for practical and automated data-quality monitoring. </a:t>
                      </a:r>
                      <a:endParaRPr lang="en-GB" sz="1400" dirty="0" smtClean="0"/>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GB" sz="1400" dirty="0" smtClean="0"/>
                        <a:t>• Sensor failures and uncertain conditions can reduce data quality. </a:t>
                      </a:r>
                      <a:br>
                        <a:rPr lang="en-GB" sz="1400" dirty="0" smtClean="0"/>
                      </a:br>
                      <a:r>
                        <a:rPr lang="en-GB" sz="1400" dirty="0" smtClean="0"/>
                        <a:t>• Data quality is important for reliable decision-making.</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c>
                  <a:txBody>
                    <a:bodyPr/>
                    <a:lstStyle/>
                    <a:p>
                      <a:pPr marL="0" indent="0" algn="l" defTabSz="914400" rtl="0" eaLnBrk="1" latinLnBrk="0" hangingPunct="1">
                        <a:buFont typeface="Arial" panose="020B0604020202020204" pitchFamily="34" charset="0"/>
                        <a:buNone/>
                      </a:pPr>
                      <a:r>
                        <a:rPr lang="en-GB" sz="1400" dirty="0" smtClean="0"/>
                        <a:t>• More practical and scalable data-quality solutions are required for industrial </a:t>
                      </a:r>
                      <a:r>
                        <a:rPr lang="en-GB" sz="1400" dirty="0" err="1" smtClean="0"/>
                        <a:t>IoT</a:t>
                      </a:r>
                      <a:r>
                        <a:rPr lang="en-GB" sz="1400" dirty="0" smtClean="0"/>
                        <a:t>. </a:t>
                      </a:r>
                      <a:br>
                        <a:rPr lang="en-GB" sz="1400" dirty="0" smtClean="0"/>
                      </a:br>
                      <a:r>
                        <a:rPr lang="en-GB" sz="1400" dirty="0" smtClean="0"/>
                        <a:t>• Future work can improve automated quality monitoring. </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panose="020B0604020202020204"/>
                      </a:endParaRPr>
                    </a:p>
                  </a:txBody>
                  <a:tcPr/>
                </a:tc>
              </a:tr>
            </a:tbl>
          </a:graphicData>
        </a:graphic>
      </p:graphicFrame>
      <p:sp>
        <p:nvSpPr>
          <p:cNvPr id="2" name="TextBox 1"/>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panose="02040503050406030204"/>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endParaRPr lang="en-IN" dirty="0"/>
          </a:p>
        </p:txBody>
      </p:sp>
      <p:sp>
        <p:nvSpPr>
          <p:cNvPr id="9" name="Footer Placeholder 8"/>
          <p:cNvSpPr>
            <a:spLocks noGrp="1"/>
          </p:cNvSpPr>
          <p:nvPr>
            <p:ph type="ftr" sz="quarter" idx="11"/>
          </p:nvPr>
        </p:nvSpPr>
        <p:spPr/>
        <p:txBody>
          <a:bodyPr/>
          <a:lstStyle/>
          <a:p>
            <a:endParaRPr lang="en-IN" dirty="0"/>
          </a:p>
        </p:txBody>
      </p:sp>
      <p:sp>
        <p:nvSpPr>
          <p:cNvPr id="10" name="Slide Number Placeholder 9"/>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56560" y="315873"/>
            <a:ext cx="6096000" cy="646331"/>
          </a:xfrm>
          <a:prstGeom prst="rect">
            <a:avLst/>
          </a:prstGeom>
          <a:noFill/>
        </p:spPr>
        <p:txBody>
          <a:bodyPr wrap="square">
            <a:spAutoFit/>
          </a:bodyPr>
          <a:lstStyle/>
          <a:p>
            <a:pPr algn="ctr"/>
            <a:r>
              <a:rPr lang="en-US" sz="3600" b="1" dirty="0"/>
              <a:t>Problem Gap Identification</a:t>
            </a:r>
          </a:p>
        </p:txBody>
      </p:sp>
      <p:pic>
        <p:nvPicPr>
          <p:cNvPr id="3" name="Picture 2"/>
          <p:cNvPicPr>
            <a:picLocks noChangeAspect="1"/>
          </p:cNvPicPr>
          <p:nvPr/>
        </p:nvPicPr>
        <p:blipFill>
          <a:blip r:embed="rId2"/>
          <a:stretch>
            <a:fillRect/>
          </a:stretch>
        </p:blipFill>
        <p:spPr>
          <a:xfrm>
            <a:off x="10249380" y="0"/>
            <a:ext cx="1942620" cy="622550"/>
          </a:xfrm>
          <a:prstGeom prst="rect">
            <a:avLst/>
          </a:prstGeom>
        </p:spPr>
      </p:pic>
      <p:sp>
        <p:nvSpPr>
          <p:cNvPr id="2" name="Text Box 1"/>
          <p:cNvSpPr txBox="1"/>
          <p:nvPr/>
        </p:nvSpPr>
        <p:spPr>
          <a:xfrm>
            <a:off x="743902" y="1463294"/>
            <a:ext cx="10704195" cy="4112260"/>
          </a:xfrm>
          <a:prstGeom prst="rect">
            <a:avLst/>
          </a:prstGeom>
        </p:spPr>
        <p:txBody>
          <a:bodyPr wrap="square">
            <a:noAutofit/>
          </a:bodyPr>
          <a:lstStyle/>
          <a:p>
            <a:endParaRPr sz="20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376427" y="962204"/>
            <a:ext cx="1173175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Patient sensor data may contain noise, missing values, and incorrect readings.</a:t>
            </a:r>
          </a:p>
          <a:p>
            <a:pPr marL="0" marR="0" lvl="0" indent="0" algn="l" defTabSz="914400" rtl="0" eaLnBrk="0" fontAlgn="base" latinLnBrk="0" hangingPunct="0">
              <a:lnSpc>
                <a:spcPct val="100000"/>
              </a:lnSpc>
              <a:spcBef>
                <a:spcPct val="0"/>
              </a:spcBef>
              <a:spcAft>
                <a:spcPct val="0"/>
              </a:spcAft>
              <a:buClrTx/>
              <a:buSzTx/>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is difficult to identify whether a sudden change is a real patient condition or sensor noise.</a:t>
            </a:r>
          </a:p>
          <a:p>
            <a:pPr marL="0" marR="0" lvl="0" indent="0" algn="l" defTabSz="914400" rtl="0" eaLnBrk="0" fontAlgn="base" latinLnBrk="0" hangingPunct="0">
              <a:lnSpc>
                <a:spcPct val="100000"/>
              </a:lnSpc>
              <a:spcBef>
                <a:spcPct val="0"/>
              </a:spcBef>
              <a:spcAft>
                <a:spcPct val="0"/>
              </a:spcAft>
              <a:buClrTx/>
              <a:buSzTx/>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Existing systems may focus mainly on collecting and displaying patient data. </a:t>
            </a:r>
          </a:p>
          <a:p>
            <a:pPr marL="0" marR="0" lvl="0" indent="0" algn="l" defTabSz="914400" rtl="0" eaLnBrk="0" fontAlgn="base" latinLnBrk="0" hangingPunct="0">
              <a:lnSpc>
                <a:spcPct val="100000"/>
              </a:lnSpc>
              <a:spcBef>
                <a:spcPct val="0"/>
              </a:spcBef>
              <a:spcAft>
                <a:spcPct val="0"/>
              </a:spcAft>
              <a:buClrTx/>
              <a:buSzTx/>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Noise reduction and anomaly detection are often treated as separate processes. </a:t>
            </a:r>
          </a:p>
          <a:p>
            <a:pPr marL="0" marR="0" lvl="0" indent="0" algn="l" defTabSz="914400" rtl="0" eaLnBrk="0" fontAlgn="base" latinLnBrk="0" hangingPunct="0">
              <a:lnSpc>
                <a:spcPct val="100000"/>
              </a:lnSpc>
              <a:spcBef>
                <a:spcPct val="0"/>
              </a:spcBef>
              <a:spcAft>
                <a:spcPct val="0"/>
              </a:spcAft>
              <a:buClrTx/>
              <a:buSzTx/>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There is a need for a system that can clean the data and detect abnormal readings together. </a:t>
            </a:r>
          </a:p>
          <a:p>
            <a:pPr marL="0" marR="0" lvl="0" indent="0" algn="l" defTabSz="914400" rtl="0" eaLnBrk="0" fontAlgn="base" latinLnBrk="0" hangingPunct="0">
              <a:lnSpc>
                <a:spcPct val="100000"/>
              </a:lnSpc>
              <a:spcBef>
                <a:spcPct val="0"/>
              </a:spcBef>
              <a:spcAft>
                <a:spcPct val="0"/>
              </a:spcAft>
              <a:buClrTx/>
              <a:buSzTx/>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clear comparison of raw data and filtered data can help users understand the improvement in data quality. </a:t>
            </a:r>
          </a:p>
          <a:p>
            <a:pPr marL="0" marR="0" lvl="0" indent="0" algn="l" defTabSz="914400" rtl="0" eaLnBrk="0" fontAlgn="base" latinLnBrk="0" hangingPunct="0">
              <a:lnSpc>
                <a:spcPct val="100000"/>
              </a:lnSpc>
              <a:spcBef>
                <a:spcPct val="0"/>
              </a:spcBef>
              <a:spcAft>
                <a:spcPct val="0"/>
              </a:spcAft>
              <a:buClrTx/>
              <a:buSzTx/>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Even a small incorrect reading can be important when monitoring a patient's health. </a:t>
            </a:r>
          </a:p>
          <a:p>
            <a:pPr marL="0" marR="0" lvl="0" indent="0" algn="l" defTabSz="914400" rtl="0" eaLnBrk="0" fontAlgn="base" latinLnBrk="0" hangingPunct="0">
              <a:lnSpc>
                <a:spcPct val="100000"/>
              </a:lnSpc>
              <a:spcBef>
                <a:spcPct val="0"/>
              </a:spcBef>
              <a:spcAft>
                <a:spcPct val="0"/>
              </a:spcAft>
              <a:buClrTx/>
              <a:buSzTx/>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Therefore, our project combines data preprocessing, noise reduction, anomaly detection, and visualization in one system.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main gap is the lack of a simple integrated system that improves the quality of patient sensor data before detecting abnormal readings.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43501" y="259894"/>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p:cNvPicPr>
            <a:picLocks noChangeAspect="1"/>
          </p:cNvPicPr>
          <p:nvPr/>
        </p:nvPicPr>
        <p:blipFill>
          <a:blip r:embed="rId2"/>
          <a:stretch>
            <a:fillRect/>
          </a:stretch>
        </p:blipFill>
        <p:spPr>
          <a:xfrm>
            <a:off x="10249380" y="0"/>
            <a:ext cx="1942620" cy="622550"/>
          </a:xfrm>
          <a:prstGeom prst="rect">
            <a:avLst/>
          </a:prstGeom>
        </p:spPr>
      </p:pic>
      <p:sp>
        <p:nvSpPr>
          <p:cNvPr id="2" name="Text Box 1"/>
          <p:cNvSpPr txBox="1"/>
          <p:nvPr/>
        </p:nvSpPr>
        <p:spPr>
          <a:xfrm>
            <a:off x="590550" y="1189901"/>
            <a:ext cx="11029315" cy="5300600"/>
          </a:xfrm>
          <a:prstGeom prst="rect">
            <a:avLst/>
          </a:prstGeom>
        </p:spPr>
        <p:txBody>
          <a:bodyPr wrap="square">
            <a:noAutofit/>
          </a:bodyPr>
          <a:lstStyle/>
          <a:p>
            <a:r>
              <a:rPr lang="en-GB" sz="2000" dirty="0">
                <a:latin typeface="Times New Roman" panose="02020603050405020304" pitchFamily="18" charset="0"/>
                <a:cs typeface="Times New Roman" panose="02020603050405020304" pitchFamily="18" charset="0"/>
              </a:rPr>
              <a:t>The proposed Patient Health Sensor Data Noise Reduction &amp; Anomaly Detection System provides an integrated approach for improving the quality of patient sensor data. It combines noise reduction and anomaly detection to make patient health readings more reliable</a:t>
            </a:r>
            <a:r>
              <a:rPr lang="en-GB" sz="2000" dirty="0" smtClean="0">
                <a:latin typeface="Times New Roman" panose="02020603050405020304" pitchFamily="18" charset="0"/>
                <a:cs typeface="Times New Roman" panose="02020603050405020304" pitchFamily="18" charset="0"/>
              </a:rPr>
              <a:t>.</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Innovation: Uses Moving Average and </a:t>
            </a:r>
            <a:r>
              <a:rPr lang="en-GB" sz="2000" dirty="0" err="1">
                <a:latin typeface="Times New Roman" panose="02020603050405020304" pitchFamily="18" charset="0"/>
                <a:cs typeface="Times New Roman" panose="02020603050405020304" pitchFamily="18" charset="0"/>
              </a:rPr>
              <a:t>Kalman</a:t>
            </a:r>
            <a:r>
              <a:rPr lang="en-GB" sz="2000" dirty="0">
                <a:latin typeface="Times New Roman" panose="02020603050405020304" pitchFamily="18" charset="0"/>
                <a:cs typeface="Times New Roman" panose="02020603050405020304" pitchFamily="18" charset="0"/>
              </a:rPr>
              <a:t> Filtering to reduce unwanted noise from patient sensor readings. </a:t>
            </a:r>
            <a:endParaRPr lang="en-GB" sz="2000" dirty="0" smtClean="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Creativity: Provides a visual dashboard to display raw patient data, filtered data, and detected abnormal readings using simple graphs. </a:t>
            </a:r>
            <a:endParaRPr lang="en-GB" sz="2000" dirty="0" smtClean="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Novelty: Combines data </a:t>
            </a:r>
            <a:r>
              <a:rPr lang="en-GB" sz="2000" dirty="0" err="1">
                <a:latin typeface="Times New Roman" panose="02020603050405020304" pitchFamily="18" charset="0"/>
                <a:cs typeface="Times New Roman" panose="02020603050405020304" pitchFamily="18" charset="0"/>
              </a:rPr>
              <a:t>preprocessing</a:t>
            </a:r>
            <a:r>
              <a:rPr lang="en-GB" sz="2000" dirty="0">
                <a:latin typeface="Times New Roman" panose="02020603050405020304" pitchFamily="18" charset="0"/>
                <a:cs typeface="Times New Roman" panose="02020603050405020304" pitchFamily="18" charset="0"/>
              </a:rPr>
              <a:t>, noise reduction, anomaly detection, and visualization in one platform. </a:t>
            </a:r>
            <a:endParaRPr lang="en-GB" sz="2000" dirty="0" smtClean="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The system helps identify whether a sudden change in a patient reading is an actual abnormal reading or possible sensor noise. </a:t>
            </a:r>
          </a:p>
          <a:p>
            <a:r>
              <a:rPr lang="en-GB" sz="2000" dirty="0">
                <a:latin typeface="Times New Roman" panose="02020603050405020304" pitchFamily="18" charset="0"/>
                <a:cs typeface="Times New Roman" panose="02020603050405020304" pitchFamily="18" charset="0"/>
              </a:rPr>
              <a:t>It focuses on patient parameters such as temperature, heart rate, blood pressure, and oxygen level. </a:t>
            </a:r>
          </a:p>
          <a:p>
            <a:r>
              <a:rPr lang="en-GB" sz="2000" dirty="0">
                <a:latin typeface="Times New Roman" panose="02020603050405020304" pitchFamily="18" charset="0"/>
                <a:cs typeface="Times New Roman" panose="02020603050405020304" pitchFamily="18" charset="0"/>
              </a:rPr>
              <a:t>The system can be extended in the future with real-time patient monitoring and machine-learning-based anomaly detection.</a:t>
            </a:r>
          </a:p>
          <a:p>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04484" y="120247"/>
            <a:ext cx="7234014" cy="707886"/>
          </a:xfrm>
          <a:prstGeom prst="rect">
            <a:avLst/>
          </a:prstGeom>
          <a:noFill/>
        </p:spPr>
        <p:txBody>
          <a:bodyPr wrap="square">
            <a:spAutoFit/>
          </a:bodyPr>
          <a:lstStyle/>
          <a:p>
            <a:pPr algn="ctr"/>
            <a:r>
              <a:rPr lang="en-US" sz="4000" b="1" dirty="0"/>
              <a:t>Feasibility </a:t>
            </a:r>
          </a:p>
        </p:txBody>
      </p:sp>
      <p:pic>
        <p:nvPicPr>
          <p:cNvPr id="4" name="Picture 3"/>
          <p:cNvPicPr>
            <a:picLocks noChangeAspect="1"/>
          </p:cNvPicPr>
          <p:nvPr/>
        </p:nvPicPr>
        <p:blipFill>
          <a:blip r:embed="rId2"/>
          <a:stretch>
            <a:fillRect/>
          </a:stretch>
        </p:blipFill>
        <p:spPr>
          <a:xfrm>
            <a:off x="10249380" y="0"/>
            <a:ext cx="1942620" cy="622550"/>
          </a:xfrm>
          <a:prstGeom prst="rect">
            <a:avLst/>
          </a:prstGeom>
        </p:spPr>
      </p:pic>
      <p:sp>
        <p:nvSpPr>
          <p:cNvPr id="6" name="Rectangle 2"/>
          <p:cNvSpPr>
            <a:spLocks noChangeArrowheads="1"/>
          </p:cNvSpPr>
          <p:nvPr/>
        </p:nvSpPr>
        <p:spPr bwMode="auto">
          <a:xfrm>
            <a:off x="465571" y="3329555"/>
            <a:ext cx="113831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306902" y="695388"/>
            <a:ext cx="10913788"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Technical Feasibility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Can be developed using Python, Pandas,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NumPy</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Matplotlib</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Scikit</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-learn.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Moving Average and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Kalman</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Filtering can be used for noise reduction.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Anomaly detection can be applied to identify unusual patient readings.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Dashboard can be used to visualize the results.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Economic Feasibility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Uses free and open-source software.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 existing patient dataset can be used.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 expensive hardware is required for the initial project.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Operational Feasibility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system is simple to 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can view patient readings, filtered data and abnormal readings through graphs.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dashboard makes the results easier to understand.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future, the system can be connected to real-time patient monitoring sensors.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More health parameters and advanced machine-learning methods can be added. </a:t>
            </a:r>
          </a:p>
          <a:p>
            <a:pPr marL="0" marR="0" lvl="0" indent="0" algn="l" defTabSz="914400" rtl="0" eaLnBrk="0" fontAlgn="base" latinLnBrk="0" hangingPunct="0">
              <a:lnSpc>
                <a:spcPct val="100000"/>
              </a:lnSpc>
              <a:spcBef>
                <a:spcPct val="0"/>
              </a:spcBef>
              <a:spcAft>
                <a:spcPct val="0"/>
              </a:spcAft>
              <a:buClrTx/>
              <a:buSzTx/>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project is feasible because it uses easily available software, low-cost resources, simple processing techniques, and can be developed within the planned timeline.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592" y="68358"/>
            <a:ext cx="11686032" cy="6789642"/>
          </a:xfrm>
        </p:spPr>
      </p:pic>
    </p:spTree>
    <p:extLst>
      <p:ext uri="{BB962C8B-B14F-4D97-AF65-F5344CB8AC3E}">
        <p14:creationId xmlns:p14="http://schemas.microsoft.com/office/powerpoint/2010/main" val="244767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7072"/>
            <a:ext cx="10515600" cy="1325563"/>
          </a:xfrm>
        </p:spPr>
        <p:txBody>
          <a:bodyPr>
            <a:normAutofit/>
          </a:bodyPr>
          <a:lstStyle/>
          <a:p>
            <a:pPr algn="ctr"/>
            <a:r>
              <a:rPr lang="en-IN" sz="4000" b="1" dirty="0" smtClean="0">
                <a:latin typeface="+mn-lt"/>
                <a:cs typeface="Times New Roman" panose="02020603050405020304" pitchFamily="18" charset="0"/>
              </a:rPr>
              <a:t>Project Plan</a:t>
            </a:r>
            <a:endParaRPr lang="en-IN" sz="4000" b="1" dirty="0">
              <a:latin typeface="+mn-lt"/>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30442712"/>
              </p:ext>
            </p:extLst>
          </p:nvPr>
        </p:nvGraphicFramePr>
        <p:xfrm>
          <a:off x="192023" y="1141740"/>
          <a:ext cx="6391656" cy="5716260"/>
        </p:xfrm>
        <a:graphic>
          <a:graphicData uri="http://schemas.openxmlformats.org/drawingml/2006/table">
            <a:tbl>
              <a:tblPr/>
              <a:tblGrid>
                <a:gridCol w="2130552"/>
                <a:gridCol w="2130552"/>
                <a:gridCol w="2130552"/>
              </a:tblGrid>
              <a:tr h="283948">
                <a:tc>
                  <a:txBody>
                    <a:bodyPr/>
                    <a:lstStyle/>
                    <a:p>
                      <a:r>
                        <a:rPr lang="en-IN" sz="1500"/>
                        <a:t>Phase</a:t>
                      </a:r>
                    </a:p>
                  </a:txBody>
                  <a:tcPr marL="76339" marR="76339" marT="38170" marB="38170" anchor="ctr">
                    <a:lnL>
                      <a:noFill/>
                    </a:lnL>
                    <a:lnR>
                      <a:noFill/>
                    </a:lnR>
                    <a:lnT>
                      <a:noFill/>
                    </a:lnT>
                    <a:lnB>
                      <a:noFill/>
                    </a:lnB>
                  </a:tcPr>
                </a:tc>
                <a:tc>
                  <a:txBody>
                    <a:bodyPr/>
                    <a:lstStyle/>
                    <a:p>
                      <a:r>
                        <a:rPr lang="en-IN" sz="1500"/>
                        <a:t>Activities</a:t>
                      </a:r>
                    </a:p>
                  </a:txBody>
                  <a:tcPr marL="76339" marR="76339" marT="38170" marB="38170" anchor="ctr">
                    <a:lnL>
                      <a:noFill/>
                    </a:lnL>
                    <a:lnR>
                      <a:noFill/>
                    </a:lnR>
                    <a:lnT>
                      <a:noFill/>
                    </a:lnT>
                    <a:lnB>
                      <a:noFill/>
                    </a:lnB>
                  </a:tcPr>
                </a:tc>
                <a:tc>
                  <a:txBody>
                    <a:bodyPr/>
                    <a:lstStyle/>
                    <a:p>
                      <a:r>
                        <a:rPr lang="en-IN" sz="1500"/>
                        <a:t>Timeline</a:t>
                      </a:r>
                    </a:p>
                  </a:txBody>
                  <a:tcPr marL="76339" marR="76339" marT="38170" marB="38170" anchor="ctr">
                    <a:lnL>
                      <a:noFill/>
                    </a:lnL>
                    <a:lnR>
                      <a:noFill/>
                    </a:lnR>
                    <a:lnT>
                      <a:noFill/>
                    </a:lnT>
                    <a:lnB>
                      <a:noFill/>
                    </a:lnB>
                  </a:tcPr>
                </a:tc>
              </a:tr>
              <a:tr h="709675">
                <a:tc>
                  <a:txBody>
                    <a:bodyPr/>
                    <a:lstStyle/>
                    <a:p>
                      <a:r>
                        <a:rPr lang="en-IN" sz="1500" b="1"/>
                        <a:t>Phase 1</a:t>
                      </a:r>
                      <a:endParaRPr lang="en-IN" sz="1500"/>
                    </a:p>
                  </a:txBody>
                  <a:tcPr marL="76339" marR="76339" marT="38170" marB="38170" anchor="ctr">
                    <a:lnL>
                      <a:noFill/>
                    </a:lnL>
                    <a:lnR>
                      <a:noFill/>
                    </a:lnR>
                    <a:lnT>
                      <a:noFill/>
                    </a:lnT>
                    <a:lnB>
                      <a:noFill/>
                    </a:lnB>
                  </a:tcPr>
                </a:tc>
                <a:tc>
                  <a:txBody>
                    <a:bodyPr/>
                    <a:lstStyle/>
                    <a:p>
                      <a:r>
                        <a:rPr lang="en-GB" sz="1500"/>
                        <a:t>Problem identification and requirement analysis</a:t>
                      </a:r>
                    </a:p>
                  </a:txBody>
                  <a:tcPr marL="76339" marR="76339" marT="38170" marB="38170" anchor="ctr">
                    <a:lnL>
                      <a:noFill/>
                    </a:lnL>
                    <a:lnR>
                      <a:noFill/>
                    </a:lnR>
                    <a:lnT>
                      <a:noFill/>
                    </a:lnT>
                    <a:lnB>
                      <a:noFill/>
                    </a:lnB>
                  </a:tcPr>
                </a:tc>
                <a:tc>
                  <a:txBody>
                    <a:bodyPr/>
                    <a:lstStyle/>
                    <a:p>
                      <a:r>
                        <a:rPr lang="en-IN" sz="1500"/>
                        <a:t>Week 1</a:t>
                      </a:r>
                    </a:p>
                  </a:txBody>
                  <a:tcPr marL="76339" marR="76339" marT="38170" marB="38170" anchor="ctr">
                    <a:lnL>
                      <a:noFill/>
                    </a:lnL>
                    <a:lnR>
                      <a:noFill/>
                    </a:lnR>
                    <a:lnT>
                      <a:noFill/>
                    </a:lnT>
                    <a:lnB>
                      <a:noFill/>
                    </a:lnB>
                  </a:tcPr>
                </a:tc>
              </a:tr>
              <a:tr h="709675">
                <a:tc>
                  <a:txBody>
                    <a:bodyPr/>
                    <a:lstStyle/>
                    <a:p>
                      <a:r>
                        <a:rPr lang="en-IN" sz="1500" b="1"/>
                        <a:t>Phase 2</a:t>
                      </a:r>
                      <a:endParaRPr lang="en-IN" sz="1500"/>
                    </a:p>
                  </a:txBody>
                  <a:tcPr marL="76339" marR="76339" marT="38170" marB="38170" anchor="ctr">
                    <a:lnL>
                      <a:noFill/>
                    </a:lnL>
                    <a:lnR>
                      <a:noFill/>
                    </a:lnR>
                    <a:lnT>
                      <a:noFill/>
                    </a:lnT>
                    <a:lnB>
                      <a:noFill/>
                    </a:lnB>
                  </a:tcPr>
                </a:tc>
                <a:tc>
                  <a:txBody>
                    <a:bodyPr/>
                    <a:lstStyle/>
                    <a:p>
                      <a:r>
                        <a:rPr lang="en-GB" sz="1500"/>
                        <a:t>Sensor dataset collection and understanding</a:t>
                      </a:r>
                    </a:p>
                  </a:txBody>
                  <a:tcPr marL="76339" marR="76339" marT="38170" marB="38170" anchor="ctr">
                    <a:lnL>
                      <a:noFill/>
                    </a:lnL>
                    <a:lnR>
                      <a:noFill/>
                    </a:lnR>
                    <a:lnT>
                      <a:noFill/>
                    </a:lnT>
                    <a:lnB>
                      <a:noFill/>
                    </a:lnB>
                  </a:tcPr>
                </a:tc>
                <a:tc>
                  <a:txBody>
                    <a:bodyPr/>
                    <a:lstStyle/>
                    <a:p>
                      <a:r>
                        <a:rPr lang="en-IN" sz="1500"/>
                        <a:t>Week 2</a:t>
                      </a:r>
                    </a:p>
                  </a:txBody>
                  <a:tcPr marL="76339" marR="76339" marT="38170" marB="38170" anchor="ctr">
                    <a:lnL>
                      <a:noFill/>
                    </a:lnL>
                    <a:lnR>
                      <a:noFill/>
                    </a:lnR>
                    <a:lnT>
                      <a:noFill/>
                    </a:lnT>
                    <a:lnB>
                      <a:noFill/>
                    </a:lnB>
                  </a:tcPr>
                </a:tc>
              </a:tr>
              <a:tr h="709675">
                <a:tc>
                  <a:txBody>
                    <a:bodyPr/>
                    <a:lstStyle/>
                    <a:p>
                      <a:r>
                        <a:rPr lang="en-IN" sz="1500" b="1"/>
                        <a:t>Phase 3</a:t>
                      </a:r>
                      <a:endParaRPr lang="en-IN" sz="1500"/>
                    </a:p>
                  </a:txBody>
                  <a:tcPr marL="76339" marR="76339" marT="38170" marB="38170" anchor="ctr">
                    <a:lnL>
                      <a:noFill/>
                    </a:lnL>
                    <a:lnR>
                      <a:noFill/>
                    </a:lnR>
                    <a:lnT>
                      <a:noFill/>
                    </a:lnT>
                    <a:lnB>
                      <a:noFill/>
                    </a:lnB>
                  </a:tcPr>
                </a:tc>
                <a:tc>
                  <a:txBody>
                    <a:bodyPr/>
                    <a:lstStyle/>
                    <a:p>
                      <a:r>
                        <a:rPr lang="en-IN" sz="1500"/>
                        <a:t>Data preprocessing and handling missing values</a:t>
                      </a:r>
                    </a:p>
                  </a:txBody>
                  <a:tcPr marL="76339" marR="76339" marT="38170" marB="38170" anchor="ctr">
                    <a:lnL>
                      <a:noFill/>
                    </a:lnL>
                    <a:lnR>
                      <a:noFill/>
                    </a:lnR>
                    <a:lnT>
                      <a:noFill/>
                    </a:lnT>
                    <a:lnB>
                      <a:noFill/>
                    </a:lnB>
                  </a:tcPr>
                </a:tc>
                <a:tc>
                  <a:txBody>
                    <a:bodyPr/>
                    <a:lstStyle/>
                    <a:p>
                      <a:r>
                        <a:rPr lang="en-IN" sz="1500"/>
                        <a:t>Week 3</a:t>
                      </a:r>
                    </a:p>
                  </a:txBody>
                  <a:tcPr marL="76339" marR="76339" marT="38170" marB="38170" anchor="ctr">
                    <a:lnL>
                      <a:noFill/>
                    </a:lnL>
                    <a:lnR>
                      <a:noFill/>
                    </a:lnR>
                    <a:lnT>
                      <a:noFill/>
                    </a:lnT>
                    <a:lnB>
                      <a:noFill/>
                    </a:lnB>
                  </a:tcPr>
                </a:tc>
              </a:tr>
              <a:tr h="709675">
                <a:tc>
                  <a:txBody>
                    <a:bodyPr/>
                    <a:lstStyle/>
                    <a:p>
                      <a:r>
                        <a:rPr lang="en-IN" sz="1500" b="1"/>
                        <a:t>Phase 4</a:t>
                      </a:r>
                      <a:endParaRPr lang="en-IN" sz="1500"/>
                    </a:p>
                  </a:txBody>
                  <a:tcPr marL="76339" marR="76339" marT="38170" marB="38170" anchor="ctr">
                    <a:lnL>
                      <a:noFill/>
                    </a:lnL>
                    <a:lnR>
                      <a:noFill/>
                    </a:lnR>
                    <a:lnT>
                      <a:noFill/>
                    </a:lnT>
                    <a:lnB>
                      <a:noFill/>
                    </a:lnB>
                  </a:tcPr>
                </a:tc>
                <a:tc>
                  <a:txBody>
                    <a:bodyPr/>
                    <a:lstStyle/>
                    <a:p>
                      <a:r>
                        <a:rPr lang="en-GB" sz="1500"/>
                        <a:t>Noise reduction using Moving Average and Kalman Filter</a:t>
                      </a:r>
                    </a:p>
                  </a:txBody>
                  <a:tcPr marL="76339" marR="76339" marT="38170" marB="38170" anchor="ctr">
                    <a:lnL>
                      <a:noFill/>
                    </a:lnL>
                    <a:lnR>
                      <a:noFill/>
                    </a:lnR>
                    <a:lnT>
                      <a:noFill/>
                    </a:lnT>
                    <a:lnB>
                      <a:noFill/>
                    </a:lnB>
                  </a:tcPr>
                </a:tc>
                <a:tc>
                  <a:txBody>
                    <a:bodyPr/>
                    <a:lstStyle/>
                    <a:p>
                      <a:r>
                        <a:rPr lang="en-IN" sz="1500"/>
                        <a:t>Weeks 4–5</a:t>
                      </a:r>
                    </a:p>
                  </a:txBody>
                  <a:tcPr marL="76339" marR="76339" marT="38170" marB="38170" anchor="ctr">
                    <a:lnL>
                      <a:noFill/>
                    </a:lnL>
                    <a:lnR>
                      <a:noFill/>
                    </a:lnR>
                    <a:lnT>
                      <a:noFill/>
                    </a:lnT>
                    <a:lnB>
                      <a:noFill/>
                    </a:lnB>
                  </a:tcPr>
                </a:tc>
              </a:tr>
              <a:tr h="496812">
                <a:tc>
                  <a:txBody>
                    <a:bodyPr/>
                    <a:lstStyle/>
                    <a:p>
                      <a:r>
                        <a:rPr lang="en-IN" sz="1500" b="1"/>
                        <a:t>Phase 5</a:t>
                      </a:r>
                      <a:endParaRPr lang="en-IN" sz="1500"/>
                    </a:p>
                  </a:txBody>
                  <a:tcPr marL="76339" marR="76339" marT="38170" marB="38170" anchor="ctr">
                    <a:lnL>
                      <a:noFill/>
                    </a:lnL>
                    <a:lnR>
                      <a:noFill/>
                    </a:lnR>
                    <a:lnT>
                      <a:noFill/>
                    </a:lnT>
                    <a:lnB>
                      <a:noFill/>
                    </a:lnB>
                  </a:tcPr>
                </a:tc>
                <a:tc>
                  <a:txBody>
                    <a:bodyPr/>
                    <a:lstStyle/>
                    <a:p>
                      <a:r>
                        <a:rPr lang="en-IN" sz="1500"/>
                        <a:t>Anomaly detection and analysis</a:t>
                      </a:r>
                    </a:p>
                  </a:txBody>
                  <a:tcPr marL="76339" marR="76339" marT="38170" marB="38170" anchor="ctr">
                    <a:lnL>
                      <a:noFill/>
                    </a:lnL>
                    <a:lnR>
                      <a:noFill/>
                    </a:lnR>
                    <a:lnT>
                      <a:noFill/>
                    </a:lnT>
                    <a:lnB>
                      <a:noFill/>
                    </a:lnB>
                  </a:tcPr>
                </a:tc>
                <a:tc>
                  <a:txBody>
                    <a:bodyPr/>
                    <a:lstStyle/>
                    <a:p>
                      <a:r>
                        <a:rPr lang="en-IN" sz="1500"/>
                        <a:t>Weeks 6–7</a:t>
                      </a:r>
                    </a:p>
                  </a:txBody>
                  <a:tcPr marL="76339" marR="76339" marT="38170" marB="38170" anchor="ctr">
                    <a:lnL>
                      <a:noFill/>
                    </a:lnL>
                    <a:lnR>
                      <a:noFill/>
                    </a:lnR>
                    <a:lnT>
                      <a:noFill/>
                    </a:lnT>
                    <a:lnB>
                      <a:noFill/>
                    </a:lnB>
                  </a:tcPr>
                </a:tc>
              </a:tr>
              <a:tr h="496812">
                <a:tc>
                  <a:txBody>
                    <a:bodyPr/>
                    <a:lstStyle/>
                    <a:p>
                      <a:r>
                        <a:rPr lang="en-IN" sz="1500" b="1"/>
                        <a:t>Phase 6</a:t>
                      </a:r>
                      <a:endParaRPr lang="en-IN" sz="1500"/>
                    </a:p>
                  </a:txBody>
                  <a:tcPr marL="76339" marR="76339" marT="38170" marB="38170" anchor="ctr">
                    <a:lnL>
                      <a:noFill/>
                    </a:lnL>
                    <a:lnR>
                      <a:noFill/>
                    </a:lnR>
                    <a:lnT>
                      <a:noFill/>
                    </a:lnT>
                    <a:lnB>
                      <a:noFill/>
                    </a:lnB>
                  </a:tcPr>
                </a:tc>
                <a:tc>
                  <a:txBody>
                    <a:bodyPr/>
                    <a:lstStyle/>
                    <a:p>
                      <a:r>
                        <a:rPr lang="en-IN" sz="1500"/>
                        <a:t>Dashboard and data visualization</a:t>
                      </a:r>
                    </a:p>
                  </a:txBody>
                  <a:tcPr marL="76339" marR="76339" marT="38170" marB="38170" anchor="ctr">
                    <a:lnL>
                      <a:noFill/>
                    </a:lnL>
                    <a:lnR>
                      <a:noFill/>
                    </a:lnR>
                    <a:lnT>
                      <a:noFill/>
                    </a:lnT>
                    <a:lnB>
                      <a:noFill/>
                    </a:lnB>
                  </a:tcPr>
                </a:tc>
                <a:tc>
                  <a:txBody>
                    <a:bodyPr/>
                    <a:lstStyle/>
                    <a:p>
                      <a:r>
                        <a:rPr lang="en-IN" sz="1500"/>
                        <a:t>Week 8</a:t>
                      </a:r>
                    </a:p>
                  </a:txBody>
                  <a:tcPr marL="76339" marR="76339" marT="38170" marB="38170" anchor="ctr">
                    <a:lnL>
                      <a:noFill/>
                    </a:lnL>
                    <a:lnR>
                      <a:noFill/>
                    </a:lnR>
                    <a:lnT>
                      <a:noFill/>
                    </a:lnT>
                    <a:lnB>
                      <a:noFill/>
                    </a:lnB>
                  </a:tcPr>
                </a:tc>
              </a:tr>
              <a:tr h="496812">
                <a:tc>
                  <a:txBody>
                    <a:bodyPr/>
                    <a:lstStyle/>
                    <a:p>
                      <a:r>
                        <a:rPr lang="en-IN" sz="1500" b="1"/>
                        <a:t>Phase 7</a:t>
                      </a:r>
                      <a:endParaRPr lang="en-IN" sz="1500"/>
                    </a:p>
                  </a:txBody>
                  <a:tcPr marL="76339" marR="76339" marT="38170" marB="38170" anchor="ctr">
                    <a:lnL>
                      <a:noFill/>
                    </a:lnL>
                    <a:lnR>
                      <a:noFill/>
                    </a:lnR>
                    <a:lnT>
                      <a:noFill/>
                    </a:lnT>
                    <a:lnB>
                      <a:noFill/>
                    </a:lnB>
                  </a:tcPr>
                </a:tc>
                <a:tc>
                  <a:txBody>
                    <a:bodyPr/>
                    <a:lstStyle/>
                    <a:p>
                      <a:r>
                        <a:rPr lang="en-IN" sz="1500"/>
                        <a:t>Testing, evaluation, and comparison</a:t>
                      </a:r>
                    </a:p>
                  </a:txBody>
                  <a:tcPr marL="76339" marR="76339" marT="38170" marB="38170" anchor="ctr">
                    <a:lnL>
                      <a:noFill/>
                    </a:lnL>
                    <a:lnR>
                      <a:noFill/>
                    </a:lnR>
                    <a:lnT>
                      <a:noFill/>
                    </a:lnT>
                    <a:lnB>
                      <a:noFill/>
                    </a:lnB>
                  </a:tcPr>
                </a:tc>
                <a:tc>
                  <a:txBody>
                    <a:bodyPr/>
                    <a:lstStyle/>
                    <a:p>
                      <a:r>
                        <a:rPr lang="en-IN" sz="1500"/>
                        <a:t>Week 9</a:t>
                      </a:r>
                    </a:p>
                  </a:txBody>
                  <a:tcPr marL="76339" marR="76339" marT="38170" marB="38170" anchor="ctr">
                    <a:lnL>
                      <a:noFill/>
                    </a:lnL>
                    <a:lnR>
                      <a:noFill/>
                    </a:lnR>
                    <a:lnT>
                      <a:noFill/>
                    </a:lnT>
                    <a:lnB>
                      <a:noFill/>
                    </a:lnB>
                  </a:tcPr>
                </a:tc>
              </a:tr>
              <a:tr h="709675">
                <a:tc>
                  <a:txBody>
                    <a:bodyPr/>
                    <a:lstStyle/>
                    <a:p>
                      <a:r>
                        <a:rPr lang="en-IN" sz="1500" b="1"/>
                        <a:t>Phase 8</a:t>
                      </a:r>
                      <a:endParaRPr lang="en-IN" sz="1500"/>
                    </a:p>
                  </a:txBody>
                  <a:tcPr marL="76339" marR="76339" marT="38170" marB="38170" anchor="ctr">
                    <a:lnL>
                      <a:noFill/>
                    </a:lnL>
                    <a:lnR>
                      <a:noFill/>
                    </a:lnR>
                    <a:lnT>
                      <a:noFill/>
                    </a:lnT>
                    <a:lnB>
                      <a:noFill/>
                    </a:lnB>
                  </a:tcPr>
                </a:tc>
                <a:tc>
                  <a:txBody>
                    <a:bodyPr/>
                    <a:lstStyle/>
                    <a:p>
                      <a:r>
                        <a:rPr lang="en-GB" sz="1500"/>
                        <a:t>Documentation, final report, and presentation</a:t>
                      </a:r>
                    </a:p>
                  </a:txBody>
                  <a:tcPr marL="76339" marR="76339" marT="38170" marB="38170" anchor="ctr">
                    <a:lnL>
                      <a:noFill/>
                    </a:lnL>
                    <a:lnR>
                      <a:noFill/>
                    </a:lnR>
                    <a:lnT>
                      <a:noFill/>
                    </a:lnT>
                    <a:lnB>
                      <a:noFill/>
                    </a:lnB>
                  </a:tcPr>
                </a:tc>
                <a:tc>
                  <a:txBody>
                    <a:bodyPr/>
                    <a:lstStyle/>
                    <a:p>
                      <a:r>
                        <a:rPr lang="en-IN" sz="1500" dirty="0"/>
                        <a:t>Week 10</a:t>
                      </a:r>
                    </a:p>
                  </a:txBody>
                  <a:tcPr marL="76339" marR="76339" marT="38170" marB="38170" anchor="ctr">
                    <a:lnL>
                      <a:noFill/>
                    </a:lnL>
                    <a:lnR>
                      <a:noFill/>
                    </a:lnR>
                    <a:lnT>
                      <a:noFill/>
                    </a:lnT>
                    <a:lnB>
                      <a:noFill/>
                    </a:lnB>
                  </a:tcPr>
                </a:tc>
              </a:tr>
            </a:tbl>
          </a:graphicData>
        </a:graphic>
      </p:graphicFrame>
      <p:pic>
        <p:nvPicPr>
          <p:cNvPr id="5" name="Picture 4"/>
          <p:cNvPicPr>
            <a:picLocks noChangeAspect="1"/>
          </p:cNvPicPr>
          <p:nvPr/>
        </p:nvPicPr>
        <p:blipFill>
          <a:blip r:embed="rId2"/>
          <a:stretch>
            <a:fillRect/>
          </a:stretch>
        </p:blipFill>
        <p:spPr>
          <a:xfrm>
            <a:off x="5632704" y="1452634"/>
            <a:ext cx="6492240" cy="4527541"/>
          </a:xfrm>
          <a:prstGeom prst="rect">
            <a:avLst/>
          </a:prstGeom>
        </p:spPr>
      </p:pic>
    </p:spTree>
    <p:extLst>
      <p:ext uri="{BB962C8B-B14F-4D97-AF65-F5344CB8AC3E}">
        <p14:creationId xmlns:p14="http://schemas.microsoft.com/office/powerpoint/2010/main" val="3790466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1129</Words>
  <Application>Microsoft Office PowerPoint</Application>
  <PresentationFormat>Widescreen</PresentationFormat>
  <Paragraphs>172</Paragraphs>
  <Slides>10</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Aptos</vt:lpstr>
      <vt:lpstr>Aptos Display</vt:lpstr>
      <vt:lpstr>Arial</vt:lpstr>
      <vt:lpstr>Calibri</vt:lpstr>
      <vt:lpstr>Calibri Light</vt:lpstr>
      <vt:lpstr>Cambria</vt:lpstr>
      <vt:lpstr>Poppins</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Plan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hasini</cp:lastModifiedBy>
  <cp:revision>42</cp:revision>
  <dcterms:created xsi:type="dcterms:W3CDTF">2026-08-08T06:33:00Z</dcterms:created>
  <dcterms:modified xsi:type="dcterms:W3CDTF">2026-09-26T06:37:19Z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0348735D6F5F4F2FA1CD7B2C57A2DE2E_13</vt:lpwstr>
  </property>
</Properties>
</file>